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f01ac96-564e-91b1-92b2-56a85ad30dff}">
          <p14:sldIdLst>
            <p14:sldId id="256"/>
            <p14:sldId id="257"/>
          </p14:sldIdLst>
        </p14:section>
        <p14:section name="Data and method" id="{b08e2d05-82f8-3462-b7e5-b1a746d59f89}">
          <p14:sldIdLst>
            <p14:sldId id="258"/>
            <p14:sldId id="259"/>
          </p14:sldIdLst>
        </p14:section>
        <p14:section name="Results" id="{84ba0c1e-07d8-70f0-faf4-36eed8c46565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Mean absolute error by model ($ per month)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absolute error by model ($ per month)</c:v>
                </c:pt>
              </c:strCache>
            </c:strRef>
          </c:tx>
          <c:spPr>
            <a:solidFill>
              <a:srgbClr val="B0B7C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Linear Regression</c:v>
                  </c:pt>
                  <c:pt idx="2">
                    <c:v>Gradient Boosting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467</c:v>
                </c:pt>
                <c:pt idx="1">
                  <c:v>303</c:v>
                </c:pt>
                <c:pt idx="2">
                  <c:v>207</c:v>
                </c:pt>
                <c:pt idx="3">
                  <c:v>176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Housing Rental Price Analysis. Rental price drivers and where a pricing model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7286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USA Housing Rental Price Analysis  |  Rajashree Guduru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Housing Rental Price Analysis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Rental price drivers and where a pricing model misses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Rajashree Guduru  |  M.S. Business Analytics, Sacred Heart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4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141732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rental prices, and where does a pricing model systematically under- or over-estimate rent?</a:t>
            </a:r>
            <a:endParaRPr lang="en-US" sz="2600" dirty="0"/>
          </a:p>
        </p:txBody>
      </p:sp>
      <p:sp>
        <p:nvSpPr>
          <p:cNvPr id="4" name="Why it matters"/>
          <p:cNvSpPr txBox="1"/>
          <p:nvPr/>
        </p:nvSpPr>
        <p:spPr>
          <a:xfrm>
            <a:off x="548640" y="40233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Property owners need to price competitively, reduce vacancy and invest in the amenities tenants actually pay for.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7223760" y="141732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52360" y="15087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1508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R-squared (random forest)</a:t>
            </a:r>
            <a:endParaRPr lang="en-US" sz="1500" dirty="0"/>
          </a:p>
        </p:txBody>
      </p:sp>
      <p:sp>
        <p:nvSpPr>
          <p:cNvPr id="8" name="Stat card 2"/>
          <p:cNvSpPr/>
          <p:nvPr/>
        </p:nvSpPr>
        <p:spPr>
          <a:xfrm>
            <a:off x="7223760" y="288036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52360" y="29718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971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Typical error per month</a:t>
            </a:r>
            <a:endParaRPr lang="en-US" sz="1500" dirty="0"/>
          </a:p>
        </p:txBody>
      </p:sp>
      <p:sp>
        <p:nvSpPr>
          <p:cNvPr id="11" name="Stat card 3"/>
          <p:cNvSpPr/>
          <p:nvPr/>
        </p:nvSpPr>
        <p:spPr>
          <a:xfrm>
            <a:off x="7223760" y="434340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52360" y="44348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44348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R-squared before cleaning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approach</a:t>
            </a:r>
            <a:endParaRPr lang="en-US" sz="3400" dirty="0"/>
          </a:p>
        </p:txBody>
      </p:sp>
      <p:sp>
        <p:nvSpPr>
          <p:cNvPr id="3" name="Data card"/>
          <p:cNvSpPr/>
          <p:nvPr/>
        </p:nvSpPr>
        <p:spPr>
          <a:xfrm>
            <a:off x="548640" y="1417320"/>
            <a:ext cx="49377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5" name="Data bullets"/>
          <p:cNvSpPr txBox="1"/>
          <p:nvPr/>
        </p:nvSpPr>
        <p:spPr>
          <a:xfrm>
            <a:off x="822960" y="210312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 Housing Listings (Kaggle): 384,977 Craigslist rental listings across 51 states and 404 regions, 22 columns, from the original team capstone (BUAN-685, Sacred Heart University, Nov 2024)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Variables: price, square feet, beds, baths, property type, pet/smoking/wheelchair/EV/furnished flags, laundry, parking, region, state, coordinates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data quality problems: half the listings were duplicate reposts, and prices ranged from $0 to $2.8 billion</a:t>
            </a:r>
            <a:endParaRPr lang="en-US" sz="1400" dirty="0"/>
          </a:p>
        </p:txBody>
      </p:sp>
      <p:sp>
        <p:nvSpPr>
          <p:cNvPr id="6" name="Step 1"/>
          <p:cNvSpPr/>
          <p:nvPr/>
        </p:nvSpPr>
        <p:spPr>
          <a:xfrm>
            <a:off x="5897880" y="14904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9788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417320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Reproduced the original course model (linear regression of price on size, beds and baths, raw data) as the starting point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5897880" y="23957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22576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Cleaning: removed 191,384 duplicates, 2,710 impossible values and 127 listings in tiny regions, leaving 190,756 listings</a:t>
            </a:r>
            <a:endParaRPr lang="en-US" sz="1400" dirty="0"/>
          </a:p>
        </p:txBody>
      </p:sp>
      <p:sp>
        <p:nvSpPr>
          <p:cNvPr id="12" name="Step 3"/>
          <p:cNvSpPr/>
          <p:nvPr/>
        </p:nvSpPr>
        <p:spPr>
          <a:xfrm>
            <a:off x="5897880" y="33009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27832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Exploratory analysis: price distribution, price vs. size by type, boxplots, correlations, amenity premiums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589788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133088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Models: mean-rent baseline, linear regression, random forest, gradient boosting; 75/25 split plus cross-validation; R-squared and MAE</a:t>
            </a:r>
            <a:endParaRPr lang="en-US" sz="1400" dirty="0"/>
          </a:p>
        </p:txBody>
      </p:sp>
      <p:sp>
        <p:nvSpPr>
          <p:cNvPr id="18" name="Step 5"/>
          <p:cNvSpPr/>
          <p:nvPr/>
        </p:nvSpPr>
        <p:spPr>
          <a:xfrm>
            <a:off x="5897880" y="51114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788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038344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 analysis: mean residual by property type and state to find systematic under- and over-pricing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400" dirty="0"/>
          </a:p>
        </p:txBody>
      </p:sp>
      <p:pic>
        <p:nvPicPr>
          <p:cNvPr id="3" name="Exploratory charts" descr="Exploratory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2484"/>
            <a:ext cx="11094415" cy="307015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Rent distribution, rent vs. square footage by type (20K-listing sample), and rent by property type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4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32588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937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85418"/>
                <a:gridCol w="985418"/>
                <a:gridCol w="98541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R-sq.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R-sq.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Original course model (raw data)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RMSE ~$10M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Baseline (mean rent)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$467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Linear Regression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0.48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$303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0.49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$176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$207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misses</a:t>
            </a:r>
            <a:endParaRPr lang="en-US" sz="3400" dirty="0"/>
          </a:p>
        </p:txBody>
      </p:sp>
      <p:pic>
        <p:nvPicPr>
          <p:cNvPr id="3" name="Driver chart" descr="Driver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0152"/>
            <a:ext cx="11094415" cy="3040416"/>
          </a:xfrm>
          <a:prstGeom prst="rect">
            <a:avLst/>
          </a:prstGeom>
        </p:spPr>
      </p:pic>
      <p:sp>
        <p:nvSpPr>
          <p:cNvPr id="4" name="Takeaway 1"/>
          <p:cNvSpPr/>
          <p:nvPr/>
        </p:nvSpPr>
        <p:spPr>
          <a:xfrm>
            <a:off x="548640" y="4617720"/>
            <a:ext cx="536432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470916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over-estimates low-cost states (Missouri by about $82; Indiana, Arkansas, Alabama by $45-50) and under-estimates high-cost states (Massachusetts, Oregon, Maryland, Washington, New Jersey).</a:t>
            </a:r>
            <a:endParaRPr lang="en-US" sz="1400" dirty="0"/>
          </a:p>
        </p:txBody>
      </p:sp>
      <p:sp>
        <p:nvSpPr>
          <p:cNvPr id="6" name="Takeaway 2"/>
          <p:cNvSpPr/>
          <p:nvPr/>
        </p:nvSpPr>
        <p:spPr>
          <a:xfrm>
            <a:off x="6278728" y="4617720"/>
            <a:ext cx="536432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7328" y="470916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Manufactured homes are over-estimated by about $72 and duplexes by about $30; apartments are nearly unbiased. The model pulls prices toward the national average.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Finding 1"/>
          <p:cNvSpPr/>
          <p:nvPr/>
        </p:nvSpPr>
        <p:spPr>
          <a:xfrm>
            <a:off x="548640" y="137160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Cleaning turned an unusable model into a useful one: R-squared rose from 0.00 on the raw data to 0.76 with random forest, and typical error fell from $467 to $176 a month.</a:t>
            </a:r>
            <a:endParaRPr lang="en-US" sz="1700" dirty="0"/>
          </a:p>
        </p:txBody>
      </p:sp>
      <p:sp>
        <p:nvSpPr>
          <p:cNvPr id="7" name="Finding 2"/>
          <p:cNvSpPr/>
          <p:nvPr/>
        </p:nvSpPr>
        <p:spPr>
          <a:xfrm>
            <a:off x="6278728" y="137160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553048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530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93128" y="160020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Location matters as much as size: square footage, longitude, latitude and being in California are the top four features.</a:t>
            </a:r>
            <a:endParaRPr lang="en-US" sz="1700" dirty="0"/>
          </a:p>
        </p:txBody>
      </p:sp>
      <p:sp>
        <p:nvSpPr>
          <p:cNvPr id="11" name="Finding 3"/>
          <p:cNvSpPr/>
          <p:nvPr/>
        </p:nvSpPr>
        <p:spPr>
          <a:xfrm>
            <a:off x="548640" y="379476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In-unit washer/dryer is the most valuable common amenity: median rent about $1,370 vs. about $950 with shared laundry. Pet-friendly policies show no premium, matching the team's t-test (p = 0.32).</a:t>
            </a:r>
            <a:endParaRPr lang="en-US" sz="1700" dirty="0"/>
          </a:p>
        </p:txBody>
      </p:sp>
      <p:sp>
        <p:nvSpPr>
          <p:cNvPr id="15" name="Finding 4"/>
          <p:cNvSpPr/>
          <p:nvPr/>
        </p:nvSpPr>
        <p:spPr>
          <a:xfrm>
            <a:off x="6278728" y="379476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3048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93128" y="402336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model over-estimates low-cost states (Missouri by about $82; Indiana, Arkansas, Alabama by $45-50) and under-estimates high-cost states (Massachusetts, Oregon, Maryland, Washington, New Jersey).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A Housing Rental Price Analysis">
  <a:themeElements>
    <a:clrScheme name="USA Housing Rental Price Analysis">
      <a:dk1>
        <a:srgbClr val="1F2328"/>
      </a:dk1>
      <a:lt1>
        <a:srgbClr val="FFFFFF"/>
      </a:lt1>
      <a:dk2>
        <a:srgbClr val="163828"/>
      </a:dk2>
      <a:lt2>
        <a:srgbClr val="EEF5F1"/>
      </a:lt2>
      <a:accent1>
        <a:srgbClr val="2E6B4F"/>
      </a:accent1>
      <a:accent2>
        <a:srgbClr val="5B6470"/>
      </a:accent2>
      <a:accent3>
        <a:srgbClr val="B0B7C0"/>
      </a:accent3>
      <a:accent4>
        <a:srgbClr val="DAEAE1"/>
      </a:accent4>
      <a:accent5>
        <a:srgbClr val="8C6D1F"/>
      </a:accent5>
      <a:accent6>
        <a:srgbClr val="3D5A80"/>
      </a:accent6>
      <a:hlink>
        <a:srgbClr val="2E6B4F"/>
      </a:hlink>
      <a:folHlink>
        <a:srgbClr val="5B6470"/>
      </a:folHlink>
    </a:clrScheme>
    <a:fontScheme name="USA Housing Rental Price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 Housing Rental Price Analysis</dc:title>
  <dc:subject>PptxGenJS Presentation</dc:subject>
  <dc:creator>Rajashree Guduru</dc:creator>
  <cp:lastModifiedBy>Rajashree Guduru</cp:lastModifiedBy>
  <cp:revision>1</cp:revision>
  <dcterms:created xsi:type="dcterms:W3CDTF">2026-10-14T23:24:25Z</dcterms:created>
  <dcterms:modified xsi:type="dcterms:W3CDTF">2026-10-14T23:24:25Z</dcterms:modified>
</cp:coreProperties>
</file>