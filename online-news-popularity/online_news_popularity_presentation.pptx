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96e76ca1-6aad-ce66-e6cb-0be61e471b3a}">
          <p14:sldIdLst>
            <p14:sldId id="256"/>
            <p14:sldId id="257"/>
          </p14:sldIdLst>
        </p14:section>
        <p14:section name="Data and method" id="{960e9ce5-7732-c5e4-dc67-67cee083fb18}">
          <p14:sldIdLst>
            <p14:sldId id="258"/>
            <p14:sldId id="259"/>
          </p14:sldIdLst>
        </p14:section>
        <p14:section name="Results" id="{57d86c67-8acf-44fc-2b16-39c160008ebd}">
          <p14:sldIdLst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328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328"/>
                </a:solidFill>
                <a:latin typeface="+mn-lt"/>
              </a:rPr>
              <a:t>ROC-AUC by model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 by model</c:v>
                </c:pt>
              </c:strCache>
            </c:strRef>
          </c:tx>
          <c:spPr>
            <a:solidFill>
              <a:srgbClr val="B0B7C0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32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0B7C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0B7C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0B7C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0B7C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F4E79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B0B7C0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Baseline</c:v>
                  </c:pt>
                  <c:pt idx="1">
                    <c:v>Headline TF-IDF</c:v>
                  </c:pt>
                  <c:pt idx="2">
                    <c:v>Headline embeddings</c:v>
                  </c:pt>
                  <c:pt idx="3">
                    <c:v>LogReg</c:v>
                  </c:pt>
                  <c:pt idx="4">
                    <c:v>Gradient Boosting</c:v>
                  </c:pt>
                  <c:pt idx="5">
                    <c:v>GB + embeddings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0.5</c:v>
                </c:pt>
                <c:pt idx="1">
                  <c:v>0.526</c:v>
                </c:pt>
                <c:pt idx="2">
                  <c:v>0.529</c:v>
                </c:pt>
                <c:pt idx="3">
                  <c:v>0.701</c:v>
                </c:pt>
                <c:pt idx="4">
                  <c:v>0.728</c:v>
                </c:pt>
                <c:pt idx="5">
                  <c:v>0.728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F232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32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Online News Popularity. What drives article shares, and can virality be predicted?.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728655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20440"/>
            <a:ext cx="1072865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</a:rPr>
              <a:t>Online News Popularity  |  Rajashree Guduru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728655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News Popularity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20440"/>
            <a:ext cx="1072865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What drives article shares, and can virality be predicted?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760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Rajashree Guduru  |  M.S. Business Analytics, Sacred Heart University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</a:t>
            </a:r>
            <a:endParaRPr lang="en-US" sz="34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141732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article characteristics are associated with more shares, can we predict whether an article will be popular, and does headline text add signal?</a:t>
            </a:r>
            <a:endParaRPr lang="en-US" sz="2600" dirty="0"/>
          </a:p>
        </p:txBody>
      </p:sp>
      <p:sp>
        <p:nvSpPr>
          <p:cNvPr id="4" name="Why it matters"/>
          <p:cNvSpPr txBox="1"/>
          <p:nvPr/>
        </p:nvSpPr>
        <p:spPr>
          <a:xfrm>
            <a:off x="548640" y="4023360"/>
            <a:ext cx="6035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Publishers decide every day what to write, when to publish and how to tag content. Knowing which levers are linked to shares helps prioritise editorial effort.</a:t>
            </a:r>
            <a:endParaRPr lang="en-US" sz="1600" dirty="0"/>
          </a:p>
        </p:txBody>
      </p:sp>
      <p:sp>
        <p:nvSpPr>
          <p:cNvPr id="5" name="Stat card 1"/>
          <p:cNvSpPr/>
          <p:nvPr/>
        </p:nvSpPr>
        <p:spPr>
          <a:xfrm>
            <a:off x="7223760" y="1417320"/>
            <a:ext cx="4416552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52360" y="150876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0.73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9418320" y="150876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ROC-AUC (gradient boosting)</a:t>
            </a:r>
            <a:endParaRPr lang="en-US" sz="1500" dirty="0"/>
          </a:p>
        </p:txBody>
      </p:sp>
      <p:sp>
        <p:nvSpPr>
          <p:cNvPr id="8" name="Stat card 2"/>
          <p:cNvSpPr/>
          <p:nvPr/>
        </p:nvSpPr>
        <p:spPr>
          <a:xfrm>
            <a:off x="7223760" y="2880360"/>
            <a:ext cx="4416552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52360" y="297180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0.66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9418320" y="297180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Test accuracy</a:t>
            </a:r>
            <a:endParaRPr lang="en-US" sz="1500" dirty="0"/>
          </a:p>
        </p:txBody>
      </p:sp>
      <p:sp>
        <p:nvSpPr>
          <p:cNvPr id="11" name="Stat card 3"/>
          <p:cNvSpPr/>
          <p:nvPr/>
        </p:nvSpPr>
        <p:spPr>
          <a:xfrm>
            <a:off x="7223760" y="4343400"/>
            <a:ext cx="4416552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52360" y="443484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0.529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9418320" y="443484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AUC from headline embeddings alone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and approach</a:t>
            </a:r>
            <a:endParaRPr lang="en-US" sz="3400" dirty="0"/>
          </a:p>
        </p:txBody>
      </p:sp>
      <p:sp>
        <p:nvSpPr>
          <p:cNvPr id="3" name="Data card"/>
          <p:cNvSpPr/>
          <p:nvPr/>
        </p:nvSpPr>
        <p:spPr>
          <a:xfrm>
            <a:off x="548640" y="1417320"/>
            <a:ext cx="4937760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2000" dirty="0"/>
          </a:p>
        </p:txBody>
      </p:sp>
      <p:sp>
        <p:nvSpPr>
          <p:cNvPr id="5" name="Data bullets"/>
          <p:cNvSpPr txBox="1"/>
          <p:nvPr/>
        </p:nvSpPr>
        <p:spPr>
          <a:xfrm>
            <a:off x="822960" y="2103120"/>
            <a:ext cx="43891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UCI Online News Popularity dataset: 39,644 Mashable articles (2013-2014)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58 predictive features: content length, links, images and videos, keyword statistics, publishing day, channel, LDA topic scores, sentiment and subjectivity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Target: shares (median 1,400, heavily right-skewed: skewness 34); popular = more than 1,400 shares (49% of articles)</a:t>
            </a:r>
            <a:endParaRPr lang="en-US" sz="1400" dirty="0"/>
          </a:p>
        </p:txBody>
      </p:sp>
      <p:sp>
        <p:nvSpPr>
          <p:cNvPr id="6" name="Step 1"/>
          <p:cNvSpPr/>
          <p:nvPr/>
        </p:nvSpPr>
        <p:spPr>
          <a:xfrm>
            <a:off x="5897880" y="149047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897880" y="1490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1417320"/>
            <a:ext cx="5059375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Exploratory analysis of share distribution, channel and weekday effects</a:t>
            </a:r>
            <a:endParaRPr lang="en-US" sz="1400" dirty="0"/>
          </a:p>
        </p:txBody>
      </p:sp>
      <p:sp>
        <p:nvSpPr>
          <p:cNvPr id="9" name="Step 2"/>
          <p:cNvSpPr/>
          <p:nvPr/>
        </p:nvSpPr>
        <p:spPr>
          <a:xfrm>
            <a:off x="5897880" y="239572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897880" y="2395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322576"/>
            <a:ext cx="5059375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Driver analysis: OLS regression with controls on log(1 + shares), standardised features, redundant dummies removed to avoid collinearity</a:t>
            </a:r>
            <a:endParaRPr lang="en-US" sz="1400" dirty="0"/>
          </a:p>
        </p:txBody>
      </p:sp>
      <p:sp>
        <p:nvSpPr>
          <p:cNvPr id="12" name="Step 3"/>
          <p:cNvSpPr/>
          <p:nvPr/>
        </p:nvSpPr>
        <p:spPr>
          <a:xfrm>
            <a:off x="5897880" y="3300984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897880" y="33009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3227832"/>
            <a:ext cx="5059375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Prediction: majority baseline, logistic regression, gradient boosting on a stratified 80/20 split</a:t>
            </a:r>
            <a:endParaRPr lang="en-US" sz="1400" dirty="0"/>
          </a:p>
        </p:txBody>
      </p:sp>
      <p:sp>
        <p:nvSpPr>
          <p:cNvPr id="15" name="Step 4"/>
          <p:cNvSpPr/>
          <p:nvPr/>
        </p:nvSpPr>
        <p:spPr>
          <a:xfrm>
            <a:off x="5897880" y="42062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89788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4133088"/>
            <a:ext cx="5059375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Text experiment: headlines extracted from URL slugs and embedded with TF-IDF (unigrams + bigrams), tested alone, combined with numeric features, and as an out-of-fold score in gradient boosting</a:t>
            </a:r>
            <a:endParaRPr lang="en-US" sz="1400" dirty="0"/>
          </a:p>
        </p:txBody>
      </p:sp>
      <p:sp>
        <p:nvSpPr>
          <p:cNvPr id="18" name="Step 5"/>
          <p:cNvSpPr/>
          <p:nvPr/>
        </p:nvSpPr>
        <p:spPr>
          <a:xfrm>
            <a:off x="5897880" y="5111496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897880" y="5111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5038344"/>
            <a:ext cx="5059375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LLM embeddings: each headline embedded with the all-MiniLM-L6-v2 sentence-transformer (384 dimensions), tested alone and as an out-of-fold score in gradient boosting; K-means on the embeddings grouped headlines into 12 topic clusters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shows</a:t>
            </a:r>
            <a:endParaRPr lang="en-US" sz="3400" dirty="0"/>
          </a:p>
        </p:txBody>
      </p:sp>
      <p:pic>
        <p:nvPicPr>
          <p:cNvPr id="3" name="Exploratory charts" descr="Exploratory char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76924"/>
            <a:ext cx="11094415" cy="272127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4864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Share distribution (log scale), median shares by channel and by weekday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results</a:t>
            </a:r>
            <a:endParaRPr lang="en-US" sz="3400" dirty="0"/>
          </a:p>
        </p:txBody>
      </p:sp>
      <p:graphicFrame>
        <p:nvGraphicFramePr>
          <p:cNvPr id="3" name="Results chart" descr=""/>
          <p:cNvGraphicFramePr/>
          <p:nvPr/>
        </p:nvGraphicFramePr>
        <p:xfrm>
          <a:off x="548640" y="1325880"/>
          <a:ext cx="57607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Resul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463040"/>
          <a:ext cx="505937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158088"/>
                <a:gridCol w="1158088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ROC-AUC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Majority-class baseline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0.507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0.500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Logistic Regression (numeric)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0.651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0.701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Gradient Boosting (numeric)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0.664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0.728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Headline TF-IDF only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0.519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0.526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Headline LLM embeddings only (MiniLM)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0.522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0.529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Gradient Boosting + headline TF-IDF score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0.667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0.728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Gradient Boosting + LLM embedding score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0.668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0.728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shares</a:t>
            </a:r>
            <a:endParaRPr lang="en-US" sz="3400" dirty="0"/>
          </a:p>
        </p:txBody>
      </p:sp>
      <p:pic>
        <p:nvPicPr>
          <p:cNvPr id="3" name="Driver chart" descr="Driver ch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48299"/>
            <a:ext cx="6949440" cy="432716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0" y="1463040"/>
            <a:ext cx="38706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OLS with controls: strongest associations with log shares (95% intervals)</a:t>
            </a:r>
            <a:endParaRPr lang="en-US" sz="1400" dirty="0"/>
          </a:p>
        </p:txBody>
      </p:sp>
      <p:sp>
        <p:nvSpPr>
          <p:cNvPr id="5" name="Driver takeaways"/>
          <p:cNvSpPr txBox="1"/>
          <p:nvPr/>
        </p:nvSpPr>
        <p:spPr>
          <a:xfrm>
            <a:off x="7772400" y="2651760"/>
            <a:ext cx="38706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Keyword strength is the largest driver: articles whose keywords historically earn more shares get substantially more shares.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Weekend publishing helps: Monday-Friday articles get about 20-25% fewer shares than Sunday articles (median 1,300-1,500 vs. 1,900-2,000 on weekends).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Social Media and Tech channels outperform; Entertainment, Business and World underperform.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embeddings: meaning, not wording</a:t>
            </a:r>
            <a:endParaRPr lang="en-US" sz="3400" dirty="0"/>
          </a:p>
        </p:txBody>
      </p:sp>
      <p:pic>
        <p:nvPicPr>
          <p:cNvPr id="3" name="Generative AI chart" descr="Generative AI ch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6583680" cy="3657600"/>
          </a:xfrm>
          <a:prstGeom prst="rect">
            <a:avLst/>
          </a:prstGeom>
        </p:spPr>
      </p:pic>
      <p:sp>
        <p:nvSpPr>
          <p:cNvPr id="4" name="GenAI takeaways"/>
          <p:cNvSpPr txBox="1"/>
          <p:nvPr/>
        </p:nvSpPr>
        <p:spPr>
          <a:xfrm>
            <a:off x="7406640" y="1463040"/>
            <a:ext cx="42364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Embedded all 39,644 headlines with the all-MiniLM-L6-v2 sentence-transformer (78 seconds on CPU); nearest neighbours match paraphrases, e.g. 'celeb mean tweets' and 'celebrities mean tweets'.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Embeddings did not improve prediction (AUC 0.529 alone; 0.728 with or without them), confirming the TF-IDF result.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They are useful for organising content: Facebook / social and photo stories beat the 1,400 median; hard news and sports trail.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400" dirty="0"/>
          </a:p>
        </p:txBody>
      </p:sp>
      <p:sp>
        <p:nvSpPr>
          <p:cNvPr id="3" name="Finding 1"/>
          <p:cNvSpPr/>
          <p:nvPr/>
        </p:nvSpPr>
        <p:spPr>
          <a:xfrm>
            <a:off x="548640" y="1371600"/>
            <a:ext cx="536432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45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600200"/>
            <a:ext cx="41756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Gradient boosting lifted ROC-AUC from 0.50 to 0.73 and accuracy from 0.51 to 0.66, beating logistic regression by capturing non-linear effects.</a:t>
            </a:r>
            <a:endParaRPr lang="en-US" sz="1700" dirty="0"/>
          </a:p>
        </p:txBody>
      </p:sp>
      <p:sp>
        <p:nvSpPr>
          <p:cNvPr id="7" name="Finding 2"/>
          <p:cNvSpPr/>
          <p:nvPr/>
        </p:nvSpPr>
        <p:spPr>
          <a:xfrm>
            <a:off x="6278728" y="1371600"/>
            <a:ext cx="536432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8" name="Shape 6"/>
          <p:cNvSpPr/>
          <p:nvPr/>
        </p:nvSpPr>
        <p:spPr>
          <a:xfrm>
            <a:off x="6553048" y="1645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53048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193128" y="1600200"/>
            <a:ext cx="41756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Headline text added no signal with either representation: TF-IDF (AUC 0.526) or LLM sentence embeddings (0.529). Adding the embedding score left gradient boosting at 0.728.</a:t>
            </a:r>
            <a:endParaRPr lang="en-US" sz="1700" dirty="0"/>
          </a:p>
        </p:txBody>
      </p:sp>
      <p:sp>
        <p:nvSpPr>
          <p:cNvPr id="11" name="Finding 3"/>
          <p:cNvSpPr/>
          <p:nvPr/>
        </p:nvSpPr>
        <p:spPr>
          <a:xfrm>
            <a:off x="548640" y="3794760"/>
            <a:ext cx="536432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40690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4023360"/>
            <a:ext cx="41756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Keyword strength is the largest driver: articles whose keywords historically earn more shares get substantially more shares.</a:t>
            </a:r>
            <a:endParaRPr lang="en-US" sz="1700" dirty="0"/>
          </a:p>
        </p:txBody>
      </p:sp>
      <p:sp>
        <p:nvSpPr>
          <p:cNvPr id="15" name="Finding 4"/>
          <p:cNvSpPr/>
          <p:nvPr/>
        </p:nvSpPr>
        <p:spPr>
          <a:xfrm>
            <a:off x="6278728" y="3794760"/>
            <a:ext cx="536432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6" name="Shape 14"/>
          <p:cNvSpPr/>
          <p:nvPr/>
        </p:nvSpPr>
        <p:spPr>
          <a:xfrm>
            <a:off x="6553048" y="40690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53048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193128" y="4023360"/>
            <a:ext cx="41756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Weekend publishing helps: Monday-Friday articles get about 20-25% fewer shares than Sunday articles (median 1,300-1,500 vs. 1,900-2,000 on weekends).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nline News Popularity">
  <a:themeElements>
    <a:clrScheme name="Online News Popularity">
      <a:dk1>
        <a:srgbClr val="1F2328"/>
      </a:dk1>
      <a:lt1>
        <a:srgbClr val="FFFFFF"/>
      </a:lt1>
      <a:dk2>
        <a:srgbClr val="0F2740"/>
      </a:dk2>
      <a:lt2>
        <a:srgbClr val="EEF3F8"/>
      </a:lt2>
      <a:accent1>
        <a:srgbClr val="1F4E79"/>
      </a:accent1>
      <a:accent2>
        <a:srgbClr val="5B6470"/>
      </a:accent2>
      <a:accent3>
        <a:srgbClr val="B0B7C0"/>
      </a:accent3>
      <a:accent4>
        <a:srgbClr val="DCE6F1"/>
      </a:accent4>
      <a:accent5>
        <a:srgbClr val="8C6D1F"/>
      </a:accent5>
      <a:accent6>
        <a:srgbClr val="3D5A80"/>
      </a:accent6>
      <a:hlink>
        <a:srgbClr val="1F4E79"/>
      </a:hlink>
      <a:folHlink>
        <a:srgbClr val="5B6470"/>
      </a:folHlink>
    </a:clrScheme>
    <a:fontScheme name="Online News Popularit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News Popularity</dc:title>
  <dc:subject>PptxGenJS Presentation</dc:subject>
  <dc:creator>Rajashree Guduru</dc:creator>
  <cp:lastModifiedBy>Rajashree Guduru</cp:lastModifiedBy>
  <cp:revision>1</cp:revision>
  <dcterms:created xsi:type="dcterms:W3CDTF">2026-10-14T23:24:25Z</dcterms:created>
  <dcterms:modified xsi:type="dcterms:W3CDTF">2026-10-14T23:24:25Z</dcterms:modified>
</cp:coreProperties>
</file>