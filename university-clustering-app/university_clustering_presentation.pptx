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8f7a465-091d-b22b-aac6-60a3b6e6b99d}">
          <p14:sldIdLst>
            <p14:sldId id="256"/>
            <p14:sldId id="257"/>
          </p14:sldIdLst>
        </p14:section>
        <p14:section name="Data and method" id="{20b42e28-c67c-2672-6a03-0e1e5d1a7a6c}">
          <p14:sldIdLst>
            <p14:sldId id="258"/>
            <p14:sldId id="259"/>
          </p14:sldIdLst>
        </p14:section>
        <p14:section name="Results" id="{0d5f929b-d771-af3d-9259-2dee811dedf8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32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328"/>
                </a:solidFill>
                <a:latin typeface="+mn-lt"/>
              </a:rPr>
              <a:t>Imputation error reduction vs. filling with the mean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Imputation error reduction vs. filling with the mean</c:v>
                </c:pt>
              </c:strCache>
            </c:strRef>
          </c:tx>
          <c:spPr>
            <a:solidFill>
              <a:srgbClr val="B0B7C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B7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5A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% from top 10%</c:v>
                  </c:pt>
                  <c:pt idx="1">
                    <c:v>Graduation rate</c:v>
                  </c:pt>
                  <c:pt idx="2">
                    <c:v>Out-of-state tuition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24</c:v>
                </c:pt>
                <c:pt idx="2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3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University Clustering and Imputation App. K-means segments of 1,302 U.S. universities, served through a Flask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University Clustering and Imputation App  |  Rajashree Guduru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Clustering and Imputation App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K-means segments of 1,302 U.S. universities, served through a Flask web app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Rajashree Guduru  |  M.S. Business Analytics, Sacred Heart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4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141732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natural groups of U.S. universities exist, and can those groups fill in a university's missing data?</a:t>
            </a:r>
            <a:endParaRPr lang="en-US" sz="2600" dirty="0"/>
          </a:p>
        </p:txBody>
      </p:sp>
      <p:sp>
        <p:nvSpPr>
          <p:cNvPr id="4" name="Why it matters"/>
          <p:cNvSpPr txBox="1"/>
          <p:nvPr/>
        </p:nvSpPr>
        <p:spPr>
          <a:xfrm>
            <a:off x="548640" y="4023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64% of universities in the dataset are missing at least one value. Filling gaps with the overall average ignores what we know about each school; using its peer group should do better.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7223760" y="141732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5087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1508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university segments</a:t>
            </a:r>
            <a:endParaRPr lang="en-US" sz="1500" dirty="0"/>
          </a:p>
        </p:txBody>
      </p:sp>
      <p:sp>
        <p:nvSpPr>
          <p:cNvPr id="8" name="Stat card 2"/>
          <p:cNvSpPr/>
          <p:nvPr/>
        </p:nvSpPr>
        <p:spPr>
          <a:xfrm>
            <a:off x="7223760" y="288036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52360" y="29718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971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cluster-sector agreement</a:t>
            </a:r>
            <a:endParaRPr lang="en-US" sz="1500" dirty="0"/>
          </a:p>
        </p:txBody>
      </p:sp>
      <p:sp>
        <p:nvSpPr>
          <p:cNvPr id="11" name="Stat card 3"/>
          <p:cNvSpPr/>
          <p:nvPr/>
        </p:nvSpPr>
        <p:spPr>
          <a:xfrm>
            <a:off x="7223760" y="4343400"/>
            <a:ext cx="441655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52360" y="44348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44348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lower tuition-imputation error vs. mean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approach</a:t>
            </a:r>
            <a:endParaRPr lang="en-US" sz="3400" dirty="0"/>
          </a:p>
        </p:txBody>
      </p:sp>
      <p:sp>
        <p:nvSpPr>
          <p:cNvPr id="3" name="Data card"/>
          <p:cNvSpPr/>
          <p:nvPr/>
        </p:nvSpPr>
        <p:spPr>
          <a:xfrm>
            <a:off x="548640" y="1417320"/>
            <a:ext cx="493776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5" name="Data bullets"/>
          <p:cNvSpPr txBox="1"/>
          <p:nvPr/>
        </p:nvSpPr>
        <p:spPr>
          <a:xfrm>
            <a:off x="822960" y="210312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1,302 U.S. colleges and universities, 17 numeric measures: applications, acceptances, enrolment, student quality, tuition and costs, faculty, graduation rate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Name, state and public/private kept aside to check the clusters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831 universities (64%) have at least one missing value; board, room and fees are missing most often</a:t>
            </a:r>
            <a:endParaRPr lang="en-US" sz="1400" dirty="0"/>
          </a:p>
        </p:txBody>
      </p:sp>
      <p:sp>
        <p:nvSpPr>
          <p:cNvPr id="6" name="Step 1"/>
          <p:cNvSpPr/>
          <p:nvPr/>
        </p:nvSpPr>
        <p:spPr>
          <a:xfrm>
            <a:off x="5897880" y="149047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9788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417320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Mean-impute for fitting, standardise all 17 measures, K-means with k from 2 to 10 compared by elbow and silhouette; k = 4 chosen for interpretability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5897880" y="23957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22576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profiles in original units; clusters named from their profiles (sector, size, selectivity)</a:t>
            </a:r>
            <a:endParaRPr lang="en-US" sz="1400" dirty="0"/>
          </a:p>
        </p:txBody>
      </p:sp>
      <p:sp>
        <p:nvSpPr>
          <p:cNvPr id="12" name="Step 3"/>
          <p:cNvSpPr/>
          <p:nvPr/>
        </p:nvSpPr>
        <p:spPr>
          <a:xfrm>
            <a:off x="5897880" y="330098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227832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against sector and state, which were not used in clustering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897880" y="4206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133088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Imputation: distance to each cluster centre using only the values a university has, in standardised units; gaps filled with the nearest centre's averages; accuracy tested by hiding 150 known values per field</a:t>
            </a:r>
            <a:endParaRPr lang="en-US" sz="1400" dirty="0"/>
          </a:p>
        </p:txBody>
      </p:sp>
      <p:sp>
        <p:nvSpPr>
          <p:cNvPr id="18" name="Step 5"/>
          <p:cNvSpPr/>
          <p:nvPr/>
        </p:nvSpPr>
        <p:spPr>
          <a:xfrm>
            <a:off x="5897880" y="511149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038344"/>
            <a:ext cx="505937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web app with sign-up, hashed-password login and a JSON imputation endpoint; pytest tests for login and imputation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400" dirty="0"/>
          </a:p>
        </p:txBody>
      </p:sp>
      <p:pic>
        <p:nvPicPr>
          <p:cNvPr id="3" name="Exploratory charts" descr="Exploratory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9568"/>
            <a:ext cx="11094415" cy="36359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Choosing k: elbow (left) and silhouette score (right)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32588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93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85418"/>
                <a:gridCol w="985418"/>
                <a:gridCol w="98541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 (150 hidden values)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 MAE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Mean-fill MAE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Graduation rate (%)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12.5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16.5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24%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% new students from top 10%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12.7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14.5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13%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Out-of-state tuition ($)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2,308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3,485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</a:rPr>
                        <a:t>34%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defines each cluster</a:t>
            </a:r>
            <a:endParaRPr lang="en-US" sz="3400" dirty="0"/>
          </a:p>
        </p:txBody>
      </p:sp>
      <p:pic>
        <p:nvPicPr>
          <p:cNvPr id="3" name="Driver chart" descr="Driver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593" y="1280160"/>
            <a:ext cx="7190509" cy="3200400"/>
          </a:xfrm>
          <a:prstGeom prst="rect">
            <a:avLst/>
          </a:prstGeom>
        </p:spPr>
      </p:pic>
      <p:sp>
        <p:nvSpPr>
          <p:cNvPr id="4" name="Takeaway 1"/>
          <p:cNvSpPr/>
          <p:nvPr/>
        </p:nvSpPr>
        <p:spPr>
          <a:xfrm>
            <a:off x="548640" y="461772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470916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segments: large flagship public universities (96; ~16,000 undergraduates, selective), regional public universities (363; lowest tuition and 46% graduation), small private colleges (557; ~1,200 students) and selective private universities (286; 79% graduation, highest tuition).</a:t>
            </a:r>
            <a:endParaRPr lang="en-US" sz="1400" dirty="0"/>
          </a:p>
        </p:txBody>
      </p:sp>
      <p:sp>
        <p:nvSpPr>
          <p:cNvPr id="6" name="Takeaway 2"/>
          <p:cNvSpPr/>
          <p:nvPr/>
        </p:nvSpPr>
        <p:spPr>
          <a:xfrm>
            <a:off x="6278728" y="4617720"/>
            <a:ext cx="5364328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07328" y="470916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Sector was never used in clustering, yet 93% of universities fall in a cluster matching their sector; selective private universities concentrate in NY, PA, MA and CA.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3" name="Finding 1"/>
          <p:cNvSpPr/>
          <p:nvPr/>
        </p:nvSpPr>
        <p:spPr>
          <a:xfrm>
            <a:off x="548640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Four segments: large flagship public universities (96; ~16,000 undergraduates, selective), regional public universities (363; lowest tuition and 46% graduation), small private colleges (557; ~1,200 students) and selective private universities (286; 79% graduation, highest tuition).</a:t>
            </a:r>
            <a:endParaRPr lang="en-US" sz="1700" dirty="0"/>
          </a:p>
        </p:txBody>
      </p:sp>
      <p:sp>
        <p:nvSpPr>
          <p:cNvPr id="7" name="Finding 2"/>
          <p:cNvSpPr/>
          <p:nvPr/>
        </p:nvSpPr>
        <p:spPr>
          <a:xfrm>
            <a:off x="6278728" y="137160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55304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30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93128" y="160020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Sector was never used in clustering, yet 93% of universities fall in a cluster matching their sector; selective private universities concentrate in NY, PA, MA and CA.</a:t>
            </a:r>
            <a:endParaRPr lang="en-US" sz="1700" dirty="0"/>
          </a:p>
        </p:txBody>
      </p:sp>
      <p:sp>
        <p:nvSpPr>
          <p:cNvPr id="11" name="Finding 3"/>
          <p:cNvSpPr/>
          <p:nvPr/>
        </p:nvSpPr>
        <p:spPr>
          <a:xfrm>
            <a:off x="548640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Cluster-based imputation beat mean-filling on every field tested: 24% lower error for graduation rate and 34% for out-of-state tuition.</a:t>
            </a:r>
            <a:endParaRPr lang="en-US" sz="1700" dirty="0"/>
          </a:p>
        </p:txBody>
      </p:sp>
      <p:sp>
        <p:nvSpPr>
          <p:cNvPr id="15" name="Finding 4"/>
          <p:cNvSpPr/>
          <p:nvPr/>
        </p:nvSpPr>
        <p:spPr>
          <a:xfrm>
            <a:off x="6278728" y="3794760"/>
            <a:ext cx="536432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3048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4023360"/>
            <a:ext cx="4175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Fixed four bugs in the original app: login never checked passwords, the app clustered unstandardised data with 3 clusters while the analysis used 4 standardised ones, broken redirects, and a hard-coded secret key.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Clustering and Imputation App">
  <a:themeElements>
    <a:clrScheme name="University Clustering and Imputation App">
      <a:dk1>
        <a:srgbClr val="1F2328"/>
      </a:dk1>
      <a:lt1>
        <a:srgbClr val="FFFFFF"/>
      </a:lt1>
      <a:dk2>
        <a:srgbClr val="1F2A44"/>
      </a:dk2>
      <a:lt2>
        <a:srgbClr val="EEF1F6"/>
      </a:lt2>
      <a:accent1>
        <a:srgbClr val="3D5A80"/>
      </a:accent1>
      <a:accent2>
        <a:srgbClr val="5B6470"/>
      </a:accent2>
      <a:accent3>
        <a:srgbClr val="B0B7C0"/>
      </a:accent3>
      <a:accent4>
        <a:srgbClr val="D9E1EC"/>
      </a:accent4>
      <a:accent5>
        <a:srgbClr val="8C6D1F"/>
      </a:accent5>
      <a:accent6>
        <a:srgbClr val="3D5A80"/>
      </a:accent6>
      <a:hlink>
        <a:srgbClr val="3D5A80"/>
      </a:hlink>
      <a:folHlink>
        <a:srgbClr val="5B6470"/>
      </a:folHlink>
    </a:clrScheme>
    <a:fontScheme name="University Clustering and Imputation Ap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Clustering and Imputation App</dc:title>
  <dc:subject>PptxGenJS Presentation</dc:subject>
  <dc:creator>Rajashree Guduru</dc:creator>
  <cp:lastModifiedBy>Rajashree Guduru</cp:lastModifiedBy>
  <cp:revision>1</cp:revision>
  <dcterms:created xsi:type="dcterms:W3CDTF">2026-10-14T23:24:25Z</dcterms:created>
  <dcterms:modified xsi:type="dcterms:W3CDTF">2026-10-14T23:24:25Z</dcterms:modified>
</cp:coreProperties>
</file>