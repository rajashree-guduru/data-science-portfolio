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ed4a51e-b49c-37a0-06e7-7187521a4ccd}">
          <p14:sldIdLst>
            <p14:sldId id="256"/>
            <p14:sldId id="257"/>
          </p14:sldIdLst>
        </p14:section>
        <p14:section name="Data and method" id="{251f96db-2cf9-c959-be30-6638f1fd31f3}">
          <p14:sldIdLst>
            <p14:sldId id="258"/>
            <p14:sldId id="259"/>
            <p14:sldId id="260"/>
            <p14:sldId id="261"/>
          </p14:sldIdLst>
        </p14:section>
        <p14:section name="Results" id="{dc7bda6f-cefb-54a9-9491-ecd986e74450}">
          <p14:sldIdLst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Test accuracy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by model</c:v>
                </c:pt>
              </c:strCache>
            </c:strRef>
          </c:tx>
          <c:spPr>
            <a:solidFill>
              <a:srgbClr val="B0B7C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23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Decision Tree</c:v>
                  </c:pt>
                  <c:pt idx="2">
                    <c:v>LogReg (raw)</c:v>
                  </c:pt>
                  <c:pt idx="3">
                    <c:v>Random Forest</c:v>
                  </c:pt>
                  <c:pt idx="4">
                    <c:v>LogReg (final)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</c:v>
                </c:pt>
                <c:pt idx="1">
                  <c:v>0.75</c:v>
                </c:pt>
                <c:pt idx="2">
                  <c:v>0.81</c:v>
                </c:pt>
                <c:pt idx="3">
                  <c:v>0.84</c:v>
                </c:pt>
                <c:pt idx="4">
                  <c:v>0.85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Disease Prediction. Classifying heart-disease risk from routine clinical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Heart Disease Prediction  |  Rajashree Guduru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Classifying heart-disease risk from routine clinical measurements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Rajashree Guduru  |  M.S. Business Analytics, Sacred Heart University</a:t>
            </a:r>
            <a:endParaRPr lang="en-US" sz="1400" dirty="0"/>
          </a:p>
        </p:txBody>
      </p:sp>
      <p:pic>
        <p:nvPicPr>
          <p:cNvPr id="5" name="Heartbeat graphic" descr="Heartbeat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822960"/>
            <a:ext cx="4663440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4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141732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routine clinical measurements predict whether a patient has heart disease, and which factors matter most?</a:t>
            </a:r>
            <a:endParaRPr lang="en-US" sz="2600" dirty="0"/>
          </a:p>
        </p:txBody>
      </p:sp>
      <p:sp>
        <p:nvSpPr>
          <p:cNvPr id="4" name="Why it matters"/>
          <p:cNvSpPr txBox="1"/>
          <p:nvPr/>
        </p:nvSpPr>
        <p:spPr>
          <a:xfrm>
            <a:off x="548640" y="4023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Heart disease is a leading cause of death worldwide. A simple, interpretable screening model can help clinicians prioritise patients for further testing.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7223760" y="141732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508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1508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accuracy</a:t>
            </a:r>
            <a:endParaRPr lang="en-US" sz="1500" dirty="0"/>
          </a:p>
        </p:txBody>
      </p:sp>
      <p:sp>
        <p:nvSpPr>
          <p:cNvPr id="8" name="Stat card 2"/>
          <p:cNvSpPr/>
          <p:nvPr/>
        </p:nvSpPr>
        <p:spPr>
          <a:xfrm>
            <a:off x="7223760" y="288036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52360" y="29718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ROC-AUC</a:t>
            </a:r>
            <a:endParaRPr lang="en-US" sz="1500" dirty="0"/>
          </a:p>
        </p:txBody>
      </p:sp>
      <p:sp>
        <p:nvSpPr>
          <p:cNvPr id="11" name="Stat card 3"/>
          <p:cNvSpPr/>
          <p:nvPr/>
        </p:nvSpPr>
        <p:spPr>
          <a:xfrm>
            <a:off x="7223760" y="434340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52360" y="44348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Baseline accuracy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approach</a:t>
            </a:r>
            <a:endParaRPr lang="en-US" sz="3400" dirty="0"/>
          </a:p>
        </p:txBody>
      </p:sp>
      <p:sp>
        <p:nvSpPr>
          <p:cNvPr id="3" name="Data card"/>
          <p:cNvSpPr/>
          <p:nvPr/>
        </p:nvSpPr>
        <p:spPr>
          <a:xfrm>
            <a:off x="548640" y="1417320"/>
            <a:ext cx="49377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5" name="Data bullets"/>
          <p:cNvSpPr txBox="1"/>
          <p:nvPr/>
        </p:nvSpPr>
        <p:spPr>
          <a:xfrm>
            <a:off x="822960" y="210312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UCI Cleveland Heart Disease dataset: 303 patients, 13 clinical features, binary target (165 with disease, 138 without)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Features: age, sex, chest pain type, resting blood pressure, cholesterol, fasting blood sugar, resting ECG, maximum heart rate, exercise-induced angina, ST depression, ST slope, number of major vessels, thal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missing values; one duplicate row; mean patient age 54.4</a:t>
            </a:r>
            <a:endParaRPr lang="en-US" sz="1400" dirty="0"/>
          </a:p>
        </p:txBody>
      </p:sp>
      <p:sp>
        <p:nvSpPr>
          <p:cNvPr id="6" name="Step 1"/>
          <p:cNvSpPr/>
          <p:nvPr/>
        </p:nvSpPr>
        <p:spPr>
          <a:xfrm>
            <a:off x="5897880" y="14904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9788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417320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Exploratory analysis: distributions, disease rate by chest-pain type, correlation matrix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5897880" y="2395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22576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70/30 train-test split plus 10-fold stratified cross-validation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5897880" y="33009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27832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Models: majority-class baseline, decision tree, logistic regression (raw features), random forest, logistic regression with scaling and one-hot encoding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89788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133088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Metrics: accuracy, ROC-AUC, precision, recall, F1; ROC curves; model coefficients for interpretation</a:t>
            </a:r>
            <a:endParaRPr lang="en-US" sz="1400" dirty="0"/>
          </a:p>
        </p:txBody>
      </p:sp>
      <p:sp>
        <p:nvSpPr>
          <p:cNvPr id="18" name="Step 5"/>
          <p:cNvSpPr/>
          <p:nvPr/>
        </p:nvSpPr>
        <p:spPr>
          <a:xfrm>
            <a:off x="5897880" y="51114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38344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Generative AI extension (RAG): a 23-passage knowledge base is embedded with the all-MiniLM-L6-v2 sentence-transformer; each patient's top-3 factors drive retrieval; facts come from a template, definitions are quoted from the retrieved passages, and a local LLM (Qwen2.5-1.5B-Instruct via Hugging Face) answers follow-up questions in a Gradio chat app; five designs were evaluated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400" dirty="0"/>
          </a:p>
        </p:txBody>
      </p:sp>
      <p:graphicFrame>
        <p:nvGraphicFramePr>
          <p:cNvPr id="5" name="Data dictionary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64328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941168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Patient age in years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Numerical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Sex (1 = male, 0 = female)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Chest pain type (0-3)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trestbps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Resting blood pressure (mm Hg)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Numerical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chol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Serum cholesterol (mg/dl)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Numerical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fbs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Fasting blood sugar &gt; 120 mg/dl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restecg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Resting ECG result (0-2)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Data dictionary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371600"/>
          <a:ext cx="5364328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941168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thalach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Maximum heart rate in stress test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Numerical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Exercise-induced angina (1 = yes)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oldpeak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ST depression induced by exercise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Numerical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slope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Slope of peak exercise ST segment (0-2)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Major vessels coloured by fluoroscopy (0-4)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Numerical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Thalassemia test result (coded 0-3)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Categorical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Heart disease present (1 = yes)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400" dirty="0"/>
          </a:p>
        </p:txBody>
      </p:sp>
      <p:pic>
        <p:nvPicPr>
          <p:cNvPr id="3" name="Exploratory charts" descr="Exploratory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5606"/>
            <a:ext cx="11094415" cy="29039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Age distribution, maximum heart rate by outcome, and disease rate by chest-pain 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insights from exploration</a:t>
            </a:r>
            <a:endParaRPr lang="en-US" sz="3400" dirty="0"/>
          </a:p>
        </p:txBody>
      </p:sp>
      <p:sp>
        <p:nvSpPr>
          <p:cNvPr id="3" name="Insight 1"/>
          <p:cNvSpPr/>
          <p:nvPr/>
        </p:nvSpPr>
        <p:spPr>
          <a:xfrm>
            <a:off x="548640" y="137160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463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patients have cholesterol above 240 mg/dl, the high-risk threshold (151 of 303)</a:t>
            </a:r>
            <a:endParaRPr lang="en-US" sz="1400" dirty="0"/>
          </a:p>
        </p:txBody>
      </p:sp>
      <p:sp>
        <p:nvSpPr>
          <p:cNvPr id="6" name="Insight 2"/>
          <p:cNvSpPr/>
          <p:nvPr/>
        </p:nvSpPr>
        <p:spPr>
          <a:xfrm>
            <a:off x="548640" y="29260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-0.40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3017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correlation between age and maximum heart rate: heart-rate capacity declines with age</a:t>
            </a:r>
            <a:endParaRPr lang="en-US" sz="1400" dirty="0"/>
          </a:p>
        </p:txBody>
      </p:sp>
      <p:sp>
        <p:nvSpPr>
          <p:cNvPr id="9" name="Insight 3"/>
          <p:cNvSpPr/>
          <p:nvPr/>
        </p:nvSpPr>
        <p:spPr>
          <a:xfrm>
            <a:off x="548640" y="448056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72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 vs 239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45720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cholesterol (mg/dl) for women vs. men in this dataset</a:t>
            </a:r>
            <a:endParaRPr lang="en-US" sz="1400" dirty="0"/>
          </a:p>
        </p:txBody>
      </p:sp>
      <p:pic>
        <p:nvPicPr>
          <p:cNvPr id="12" name="Age vs maximum heart rate" descr="Age vs maximum heart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58003"/>
            <a:ext cx="5470855" cy="39077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32588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93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39064"/>
                <a:gridCol w="739064"/>
                <a:gridCol w="739064"/>
                <a:gridCol w="7390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10-fold CV acc.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Majority-class baseline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Logistic Regression (raw)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Logistic Regression (scaled + one-hot)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heart disease</a:t>
            </a:r>
            <a:endParaRPr lang="en-US" sz="3400" dirty="0"/>
          </a:p>
        </p:txBody>
      </p:sp>
      <p:pic>
        <p:nvPicPr>
          <p:cNvPr id="3" name="Driver chart" descr="Drive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255" y="1325880"/>
            <a:ext cx="501421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463040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Final model coefficients: positive values raise the odds of heart disease</a:t>
            </a:r>
            <a:endParaRPr lang="en-US" sz="1400" dirty="0"/>
          </a:p>
        </p:txBody>
      </p:sp>
      <p:sp>
        <p:nvSpPr>
          <p:cNvPr id="5" name="Driver takeaways"/>
          <p:cNvSpPr txBox="1"/>
          <p:nvPr/>
        </p:nvSpPr>
        <p:spPr>
          <a:xfrm>
            <a:off x="7772400" y="2651760"/>
            <a:ext cx="38706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Strongest signals: number of major vessels, chest pain type, thal result, sex, ST depression and maximum heart rate.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Recall of 0.89: only 5 of 47 heart-disease patients in the test set were missed, which matters most for screening.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AI: RAG explainer and chat</a:t>
            </a:r>
            <a:endParaRPr lang="en-US" sz="3400" dirty="0"/>
          </a:p>
        </p:txBody>
      </p:sp>
      <p:sp>
        <p:nvSpPr>
          <p:cNvPr id="3" name="Pipeline step 1"/>
          <p:cNvSpPr/>
          <p:nvPr/>
        </p:nvSpPr>
        <p:spPr>
          <a:xfrm>
            <a:off x="548640" y="1371600"/>
            <a:ext cx="1999427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Logistic regression scores the patient's risk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48067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7" name="Pipeline step 2"/>
          <p:cNvSpPr/>
          <p:nvPr/>
        </p:nvSpPr>
        <p:spPr>
          <a:xfrm>
            <a:off x="2822387" y="1371600"/>
            <a:ext cx="1999427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59547" y="14630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59547" y="1920240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 3 factors: coefficient x deviation from average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21814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Pipeline step 3"/>
          <p:cNvSpPr/>
          <p:nvPr/>
        </p:nvSpPr>
        <p:spPr>
          <a:xfrm>
            <a:off x="5096134" y="1371600"/>
            <a:ext cx="1999427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33294" y="14630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33294" y="1920240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MiniLM embeddings find matching knowledge-base passages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95561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Pipeline step 4"/>
          <p:cNvSpPr/>
          <p:nvPr/>
        </p:nvSpPr>
        <p:spPr>
          <a:xfrm>
            <a:off x="7369881" y="1371600"/>
            <a:ext cx="1999427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07041" y="14630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07041" y="1920240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Template states facts; definitions quoted from passages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69308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›</a:t>
            </a:r>
            <a:endParaRPr lang="en-US" sz="2400" dirty="0"/>
          </a:p>
        </p:txBody>
      </p:sp>
      <p:sp>
        <p:nvSpPr>
          <p:cNvPr id="19" name="Pipeline step 5"/>
          <p:cNvSpPr/>
          <p:nvPr/>
        </p:nvSpPr>
        <p:spPr>
          <a:xfrm>
            <a:off x="9643628" y="1371600"/>
            <a:ext cx="1999427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80788" y="14630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80788" y="1920240"/>
            <a:ext cx="17251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Local LLM (Qwen2.5-1.5B) answers follow-ups, labelled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92.7%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retrieval hit rate (top factors)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3429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chat answers with no invented numbers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429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designs evaluated</a:t>
            </a:r>
            <a:endParaRPr lang="en-US" sz="1200" dirty="0"/>
          </a:p>
        </p:txBody>
      </p:sp>
      <p:sp>
        <p:nvSpPr>
          <p:cNvPr id="28" name="GenAI takeaways"/>
          <p:cNvSpPr txBox="1"/>
          <p:nvPr/>
        </p:nvSpPr>
        <p:spPr>
          <a:xfrm>
            <a:off x="6675120" y="3429000"/>
            <a:ext cx="496793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Letting the 1.5B LLM write explanations (v1-v4) produced fluent text with invented numbers and details, e.g. calling a female patient 'male'.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design keeps the LLM away from facts: code states risk and directions, definitions are quoted, and the LLM only answers follow-ups.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Finding 1"/>
          <p:cNvSpPr/>
          <p:nvPr/>
        </p:nvSpPr>
        <p:spPr>
          <a:xfrm>
            <a:off x="548640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Logistic regression improved accuracy from a 0.52 baseline to 0.85, with 0.91 ROC-AUC; 10-fold cross-validation (0.85 accuracy, 0.91 AUC) confirms it is not a lucky split.</a:t>
            </a:r>
            <a:endParaRPr lang="en-US" sz="1700" dirty="0"/>
          </a:p>
        </p:txBody>
      </p:sp>
      <p:sp>
        <p:nvSpPr>
          <p:cNvPr id="7" name="Finding 2"/>
          <p:cNvSpPr/>
          <p:nvPr/>
        </p:nvSpPr>
        <p:spPr>
          <a:xfrm>
            <a:off x="6278728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55304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93128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One-hot encoding the categorical clinical codes added about 3 points of accuracy over raw features, and beat the decision tree by 10 points.</a:t>
            </a:r>
            <a:endParaRPr lang="en-US" sz="1700" dirty="0"/>
          </a:p>
        </p:txBody>
      </p:sp>
      <p:sp>
        <p:nvSpPr>
          <p:cNvPr id="11" name="Finding 3"/>
          <p:cNvSpPr/>
          <p:nvPr/>
        </p:nvSpPr>
        <p:spPr>
          <a:xfrm>
            <a:off x="548640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Recall of 0.89: only 5 of 47 heart-disease patients in the test set were missed, which matters most for screening.</a:t>
            </a:r>
            <a:endParaRPr lang="en-US" sz="1700" dirty="0"/>
          </a:p>
        </p:txBody>
      </p:sp>
      <p:sp>
        <p:nvSpPr>
          <p:cNvPr id="15" name="Finding 4"/>
          <p:cNvSpPr/>
          <p:nvPr/>
        </p:nvSpPr>
        <p:spPr>
          <a:xfrm>
            <a:off x="6278728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3048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93128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Strongest signals: number of major vessels, chest pain type, thal result, sex, ST depression and maximum heart rate.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could be used</a:t>
            </a:r>
            <a:endParaRPr lang="en-US" sz="3400" dirty="0"/>
          </a:p>
        </p:txBody>
      </p:sp>
      <p:sp>
        <p:nvSpPr>
          <p:cNvPr id="3" name="Use case 1"/>
          <p:cNvSpPr/>
          <p:nvPr/>
        </p:nvSpPr>
        <p:spPr>
          <a:xfrm>
            <a:off x="548640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detection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Flag at-risk patients from routine measurements so they can be referred for further testing sooner.</a:t>
            </a:r>
            <a:endParaRPr lang="en-US" sz="1600" dirty="0"/>
          </a:p>
        </p:txBody>
      </p:sp>
      <p:sp>
        <p:nvSpPr>
          <p:cNvPr id="8" name="Use case 2"/>
          <p:cNvSpPr/>
          <p:nvPr/>
        </p:nvSpPr>
        <p:spPr>
          <a:xfrm>
            <a:off x="4368698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68873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873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88738" y="260604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88738" y="320040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clinicians a second opinion with an explainable score: each coefficient shows which factors raised the risk.</a:t>
            </a:r>
            <a:endParaRPr lang="en-US" sz="1600" dirty="0"/>
          </a:p>
        </p:txBody>
      </p:sp>
      <p:sp>
        <p:nvSpPr>
          <p:cNvPr id="13" name="Use case 3"/>
          <p:cNvSpPr/>
          <p:nvPr/>
        </p:nvSpPr>
        <p:spPr>
          <a:xfrm>
            <a:off x="8188757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8797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8797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508797" y="260604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prevention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8797" y="320040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Focus lifestyle and monitoring programmes on the patients the model ranks as highest risk.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 screening aid, not a diagnosis: the model would need validation on other hospitals before clinical 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 Disease Prediction">
  <a:themeElements>
    <a:clrScheme name="Heart Disease Prediction">
      <a:dk1>
        <a:srgbClr val="1F2328"/>
      </a:dk1>
      <a:lt1>
        <a:srgbClr val="FFFFFF"/>
      </a:lt1>
      <a:dk2>
        <a:srgbClr val="4A1019"/>
      </a:dk2>
      <a:lt2>
        <a:srgbClr val="F6EEEF"/>
      </a:lt2>
      <a:accent1>
        <a:srgbClr val="9B2335"/>
      </a:accent1>
      <a:accent2>
        <a:srgbClr val="5B6470"/>
      </a:accent2>
      <a:accent3>
        <a:srgbClr val="B0B7C0"/>
      </a:accent3>
      <a:accent4>
        <a:srgbClr val="EFDDE0"/>
      </a:accent4>
      <a:accent5>
        <a:srgbClr val="8C6D1F"/>
      </a:accent5>
      <a:accent6>
        <a:srgbClr val="3D5A80"/>
      </a:accent6>
      <a:hlink>
        <a:srgbClr val="9B2335"/>
      </a:hlink>
      <a:folHlink>
        <a:srgbClr val="5B6470"/>
      </a:folHlink>
    </a:clrScheme>
    <a:fontScheme name="Heart Disease Predic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Rajashree Guduru</dc:creator>
  <cp:lastModifiedBy>Rajashree Guduru</cp:lastModifiedBy>
  <cp:revision>1</cp:revision>
  <dcterms:created xsi:type="dcterms:W3CDTF">2026-10-14T23:24:25Z</dcterms:created>
  <dcterms:modified xsi:type="dcterms:W3CDTF">2026-10-14T23:24:25Z</dcterms:modified>
</cp:coreProperties>
</file>